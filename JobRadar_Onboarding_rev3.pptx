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21"/>
    <p:sldId id="261" r:id="rId7"/>
    <p:sldId id="260" r:id="rId6"/>
    <p:sldId id="262" r:id="rId8"/>
    <p:sldId id="263" r:id="rId9"/>
    <p:sldId id="264" r:id="rId10"/>
    <p:sldId id="265" r:id="rId11"/>
    <p:sldId id="268" r:id="rId14"/>
    <p:sldId id="269" r:id="rId15"/>
    <p:sldId id="266" r:id="rId12"/>
    <p:sldId id="267" r:id="rId13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this slide is the most common source of confusion for first-timers. If someone says a tool 'isn't working' or Claude just describes the spreadsheet instead of producing a file, the fix is almost always turning on Settings &gt; Capabilities &gt; Code execution and file creation. ChatGPT free-tier users may hit rate limits on Advanced Data Analysis — that's expected, not a bug in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if someone asks 'what NAICS code should I use,' the honest answer is they usually don't need to know one up front — the tool can infer it from a plain-English industry description. This slide is background for people who want to understand what the code means or verify Claude's guess, not a prerequisite to using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tip 3 (adjacent codes) is the one people forget most — remind the room that a company rarely fits neatly into one 6-digit code, so 1-2 related codes is normal, not a sign the first code was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08760"/>
            <a:ext cx="640080" cy="640080"/>
          </a:xfrm>
          <a:prstGeom prst="ellipse">
            <a:avLst/>
          </a:prstGeom>
          <a:ln w="12700">
            <a:solidFill>
              <a:srgbClr val="39E58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234440"/>
            <a:ext cx="1188720" cy="1188720"/>
          </a:xfrm>
          <a:prstGeom prst="ellipse">
            <a:avLst/>
          </a:prstGeom>
          <a:ln w="12700">
            <a:solidFill>
              <a:srgbClr val="39E5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0120"/>
            <a:ext cx="1737360" cy="1737360"/>
          </a:xfrm>
          <a:prstGeom prst="ellipse">
            <a:avLst/>
          </a:prstGeom>
          <a:ln w="12700">
            <a:solidFill>
              <a:srgbClr val="39E5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691640"/>
            <a:ext cx="274320" cy="274320"/>
          </a:xfrm>
          <a:prstGeom prst="ellipse">
            <a:avLst/>
          </a:prstGeom>
          <a:solidFill>
            <a:srgbClr val="39E58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828800"/>
            <a:ext cx="777240" cy="-777240"/>
          </a:xfrm>
          <a:prstGeom prst="line">
            <a:avLst/>
          </a:prstGeom>
          <a:noFill/>
          <a:ln w="19050">
            <a:solidFill>
              <a:srgbClr val="39E58C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</a:t>
            </a:r>
            <a:pPr indent="0" marL="0">
              <a:buNone/>
            </a:pPr>
            <a:r>
              <a:rPr lang="en-US" sz="6000" b="1" dirty="0">
                <a:solidFill>
                  <a:srgbClr val="39E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Suite Overview — Getting Started for First-Time Users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E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search. One repeatable process.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617720"/>
            <a:ext cx="5669280" cy="0"/>
          </a:xfrm>
          <a:prstGeom prst="line">
            <a:avLst/>
          </a:prstGeom>
          <a:noFill/>
          <a:ln w="9525">
            <a:solidFill>
              <a:srgbClr val="8FA3B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FREE TOOLS   ·   NO INSTALL   ·   NO ACCOUNT   ·   RUNS IN YOUR 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E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tjackson8817.github.io/Job-Hunting-Tool-Suite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Start: Platforms &amp; Settings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things to check before you paste your first prompt.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46000" y="2286000"/>
            <a:ext cx="6500000" cy="3200000"/>
          </a:xfrm>
          <a:prstGeom prst="roundRect">
            <a:avLst>
              <a:gd name="adj" fmla="val 3636"/>
            </a:avLst>
          </a:prstGeom>
          <a:solidFill>
            <a:srgbClr val="E4EEEA"/>
          </a:solidFill>
          <a:ln w="12700">
            <a:solidFill>
              <a:srgbClr val="0FA96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6040" y="2578608"/>
            <a:ext cx="502920" cy="50292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2" name="Text 10"/>
          <p:cNvSpPr/>
          <p:nvPr/>
        </p:nvSpPr>
        <p:spPr>
          <a:xfrm>
            <a:off x="31660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851840" y="2521872"/>
            <a:ext cx="521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This Claude Setting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66040" y="3200400"/>
            <a:ext cx="5859920" cy="2102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Capabilities → toggle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“Code execution and file creation”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on.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Claude actually build the downloadable .xlsx tracker, instead of just describing it in the chat. Available on Free, Pro, Max, Team, and Enterprise plans — on web, desktop, and mobile.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JobRadar?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suite of ten prompt-building tools that walk you through every stage of a job search — including one to help you find your direction first. Each tool builds a ready-to-paste prompt — Claude handles the research, writing, or drafting.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EDF4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2532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Install, No Account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8986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your browser at the JobRadar link. Nothing to download, nothing to sign up for.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EDF4F1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132320" y="2532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Ready-to-Paste Prompts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8986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generates a tailored prompt. Paste it into Claude, and Claude does the work.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EDF4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508760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Repeatable Process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6360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funnel — Research to Negotiate — so you always know the next step.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EDF4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343400"/>
            <a:ext cx="502920" cy="50292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132320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What You Need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46360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full funnel, jump to a single step, or use the “anytime” tools alongside it.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7-Step Job Search Funnel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JobRadar tool has a place in this sequence. Not sure of your direction? Start at Discovery. Already know your target? Start at Research.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3291840"/>
            <a:ext cx="9723120" cy="0"/>
          </a:xfrm>
          <a:prstGeom prst="line">
            <a:avLst/>
          </a:prstGeom>
          <a:noFill/>
          <a:ln w="38100">
            <a:solidFill>
              <a:srgbClr val="E4E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206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206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7772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258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258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9824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5310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5310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1876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7362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362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3928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414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414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5980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61466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1466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8032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F4F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— USE ANYTIME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5595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(LinkedIn Profile Builder), Build Your Brand (LinkedIn Article Share Builder), and Safety Check (Recruiter &amp; Posting Sanity Check) sit outside the funnel — use them at any point in your search.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100" name="Shape 00"/>
          <p:cNvSpPr/>
          <p:nvPr/>
        </p:nvSpPr>
        <p:spPr>
          <a:xfrm>
            <a:off x="891540" y="2948940"/>
            <a:ext cx="685800" cy="6858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A968"/>
            </a:solidFill>
            <a:prstDash val="solid"/>
          </a:ln>
        </p:spPr>
      </p:sp>
      <p:sp>
        <p:nvSpPr>
          <p:cNvPr id="101" name="Text 00"/>
          <p:cNvSpPr/>
          <p:nvPr/>
        </p:nvSpPr>
        <p:spPr>
          <a:xfrm>
            <a:off x="891540" y="2948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300" dirty="0"/>
          </a:p>
        </p:txBody>
      </p:sp>
      <p:sp>
        <p:nvSpPr>
          <p:cNvPr id="102" name="Text 00label"/>
          <p:cNvSpPr/>
          <p:nvPr/>
        </p:nvSpPr>
        <p:spPr>
          <a:xfrm>
            <a:off x="457200" y="37993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188720"/>
            <a:ext cx="9628632" cy="4480560"/>
          </a:xfrm>
          <a:prstGeom prst="roundRect">
            <a:avLst>
              <a:gd name="adj" fmla="val 2449"/>
            </a:avLst>
          </a:prstGeom>
          <a:solidFill>
            <a:srgbClr val="EDF4F1"/>
          </a:solidFill>
          <a:ln w="19050">
            <a:solidFill>
              <a:srgbClr val="B8720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591556" y="1600200"/>
            <a:ext cx="1005840" cy="1005840"/>
          </a:xfrm>
          <a:prstGeom prst="ellipse">
            <a:avLst/>
          </a:prstGeom>
          <a:solidFill>
            <a:srgbClr val="B8720C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5893308" y="1892808"/>
            <a:ext cx="457200" cy="42062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88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HERE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94560" y="3794760"/>
            <a:ext cx="7799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JobRadar and run the Target Company Prompt Builder together, live, before walking through the rest of the tools.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28800" y="452628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45262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(or example) industry as a group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452628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45262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generated prompt into Claude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452628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45262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Excel tracker come together in real 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· STEPS 01–02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Verify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your target company list before you spend time on any single application.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Company Prompt Builder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prioritize targets.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and ranks companies by industry or NAICS code, then builds a formatted Excel tracker with a Suggested Priority Rank.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736092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Posting Finder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actually hiring.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current openings and returns real postings with real URLs — not just company research.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Actually Looks Like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Company Prompt Builder hands back a formatted Excel tracker like this — not just a list of names.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960120"/>
                <a:gridCol w="1005840"/>
                <a:gridCol w="2103120"/>
                <a:gridCol w="3749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96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Northbridge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 Reyes, VP Eng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overlap in target market; hiring surge in Q3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Ridgeline Industrial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541512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 into the space; worth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334513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Patel, Dir.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in 2 industry reports this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Ng, 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overlap; multiple open roles match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for illustration — company names and details are placeholders, not real research.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13892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DF4F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285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SHEET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55412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tab with one-click LinkedIn Jobs, Indeed, and Google Jobs search links per company — built as live Excel formulas, not static text.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· STEP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&amp; Connect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have a real posting, tailor your materials and reach out to real people at the company.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&amp; Cover Letter Tailoring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materials to the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your resume and cover letter to one posting with gap analysis, bullet rewrites, and a traditional or Qualifications Match Letter.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736092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Message Builder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connections into conversations.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messages tailored by company, relationship stage, and your real connection type.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· STEPS 04–05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Negotiate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out the funnel: walk into the conversation prepared, and leave the offer stage with a real plan.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 Guide Builder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prepared.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grounded prep guide for recruiter screens, hiring-manager calls, or other interview formats.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736092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Negotiator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from evidence, not instinct.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real offer, sourced market data, and your qualifications to build a negotiation plan and counteroffer draft.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FUNNEL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Anytime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tools don't belong to a single step — use them throughout your search, whenever they're relevant.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91840" cy="3977640"/>
          </a:xfrm>
          <a:prstGeom prst="roundRect">
            <a:avLst>
              <a:gd name="adj" fmla="val 2299"/>
            </a:avLst>
          </a:prstGeom>
          <a:solidFill>
            <a:srgbClr val="E4EEEA"/>
          </a:solidFill>
          <a:ln w="12700">
            <a:solidFill>
              <a:srgbClr val="0FA968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Brand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Article Share Builder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visible while you search.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25603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48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3 recent, on-brand articles worth sharing and drafts both a quick informational post and a thought-leadership option.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291840" cy="3977640"/>
          </a:xfrm>
          <a:prstGeom prst="roundRect">
            <a:avLst>
              <a:gd name="adj" fmla="val 2299"/>
            </a:avLst>
          </a:prstGeom>
          <a:solidFill>
            <a:srgbClr val="E4EEEA"/>
          </a:solidFill>
          <a:ln w="12700">
            <a:solidFill>
              <a:srgbClr val="0FA968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Message &amp; Job Posting Sanity Check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3931920"/>
            <a:ext cx="25603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41148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suspicious recruiter messages or postings for known scam patterns, entirely in your browser, with an immediate result.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100" name="Shape 100"/>
          <p:cNvSpPr/>
          <p:nvPr/>
        </p:nvSpPr>
        <p:spPr>
          <a:xfrm>
            <a:off x="4297680" y="2148840"/>
            <a:ext cx="3291840" cy="3977640"/>
          </a:xfrm>
          <a:prstGeom prst="roundRect">
            <a:avLst>
              <a:gd name="adj" fmla="val 2299"/>
            </a:avLst>
          </a:prstGeom>
          <a:solidFill>
            <a:srgbClr val="E4EEEA"/>
          </a:solidFill>
          <a:ln w="12700">
            <a:solidFill>
              <a:srgbClr val="0FA968">
                <a:alpha val="35000"/>
              </a:srgbClr>
            </a:solidFill>
            <a:prstDash val="solid"/>
          </a:ln>
        </p:spPr>
      </p:sp>
      <p:sp>
        <p:nvSpPr>
          <p:cNvPr id="101" name="Text 100"/>
          <p:cNvSpPr/>
          <p:nvPr/>
        </p:nvSpPr>
        <p:spPr>
          <a:xfrm>
            <a:off x="46634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Profile</a:t>
            </a:r>
            <a:endParaRPr lang="en-US" sz="1700" dirty="0"/>
          </a:p>
        </p:txBody>
      </p:sp>
      <p:sp>
        <p:nvSpPr>
          <p:cNvPr id="102" name="Text 101"/>
          <p:cNvSpPr/>
          <p:nvPr/>
        </p:nvSpPr>
        <p:spPr>
          <a:xfrm>
            <a:off x="466344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Builder</a:t>
            </a:r>
            <a:endParaRPr lang="en-US" sz="1050" dirty="0"/>
          </a:p>
        </p:txBody>
      </p:sp>
      <p:sp>
        <p:nvSpPr>
          <p:cNvPr id="103" name="Text 102"/>
          <p:cNvSpPr/>
          <p:nvPr/>
        </p:nvSpPr>
        <p:spPr>
          <a:xfrm>
            <a:off x="46634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 by recruiters.</a:t>
            </a:r>
            <a:endParaRPr lang="en-US" sz="1100" dirty="0"/>
          </a:p>
        </p:txBody>
      </p:sp>
      <p:sp>
        <p:nvSpPr>
          <p:cNvPr id="104" name="Shape 101"/>
          <p:cNvSpPr/>
          <p:nvPr/>
        </p:nvSpPr>
        <p:spPr>
          <a:xfrm>
            <a:off x="4663440" y="3931920"/>
            <a:ext cx="25603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63440" y="41148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your headline, About section, and skills for the job search — recruiter-searchable and ATS-ready.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•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NAICS Codes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Company Prompt Builder can search by industry name or by NAICS code. Here's what that code actually means.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4F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NAICS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(North American Industry Classification System) is the standard the U.S., Canada, and Mexico use to classify businesses by what they primarily do.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HIERARCHICAL — 2 TO 6 DIGITS, GENERAL TO SPECIFIC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2084832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233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452628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Scientific &amp; Technical Services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5184" y="4411980"/>
            <a:ext cx="146304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61488" y="3611880"/>
            <a:ext cx="2084832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3749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61488" y="4233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71216" y="452628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Scientific &amp; Technical Services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8032" y="4411980"/>
            <a:ext cx="146304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74336" y="3611880"/>
            <a:ext cx="2084832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3749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74336" y="4233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84064" y="452628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Systems Design &amp; Related Services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4411980"/>
            <a:ext cx="146304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87184" y="3611880"/>
            <a:ext cx="2084832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7187184" y="3749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54151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87184" y="4233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96912" y="452628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Systems Design &amp; Related Services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53728" y="4411980"/>
            <a:ext cx="146304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00032" y="3611880"/>
            <a:ext cx="2084832" cy="1600200"/>
          </a:xfrm>
          <a:prstGeom prst="roundRect">
            <a:avLst>
              <a:gd name="adj" fmla="val 4000"/>
            </a:avLst>
          </a:prstGeom>
          <a:solidFill>
            <a:srgbClr val="0FA968"/>
          </a:solidFill>
          <a:ln/>
        </p:spPr>
      </p:sp>
      <p:sp>
        <p:nvSpPr>
          <p:cNvPr id="29" name="Text 27"/>
          <p:cNvSpPr/>
          <p:nvPr/>
        </p:nvSpPr>
        <p:spPr>
          <a:xfrm>
            <a:off x="9400032" y="3749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541511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400032" y="423367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INDUSTRY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09760" y="4526280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Computer Programming Services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any code at census.gov/naics — search by keyword (“software,” “healthcare,” “construction”) to find the matching sector.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•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NAICS Codes in JobRadar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habits that make the Target Company Prompt Builder more accurate on the first try.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know your code? Start with plain English.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5603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industry (“healthcare software,” “industrial logistics”) and let the tool suggest the matching NAICS code, or look it up at census.gov/naics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Narrower codes = tighter results.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34747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6-digit code returns a more targeted company list than a 2-digit sector. Start broad if you're exploring, then narrow once you know what you want.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adjacent codes too.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companies straddle more than one code. Running 1–2 related codes widens your net without losing focus.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983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it as your target list evolves.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5303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early results feel off-target, adjust the code or industry description and rebuild the tracker — it's meant to be iterated 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Snags to Watch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things that trip people up when checking the Excel output — worth a quick glance before you trust the sheet.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B872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234440" y="22677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job-link formula shows #NAME? instead of a link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7432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builds the workbook programmatically, the LinkedIn/Indeed/Google Jobs links use =_xlfn.ENCODEURL(...) inside the HYPERLINK formula — Excel requires that _xlfn. prefix for functions written this way. If a cell shows #NAME? instead of a working link, ask Claude to check and fix the formula.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B872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234440" y="38679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“LinkedIn” link doesn’t return job postings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3434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linkedin.com/feed/hashtag/... is a different LinkedIn feature and won’t return postings, even though it looks like a plausible link. The correct link is LinkedIn’s Jobs search URL. Click a sample cell before trusting the whole sheet.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D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a couple of links or formulas in any generated sheet before you rely on the whole thing.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E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for First-Time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09728" cy="109728"/>
          </a:xfrm>
          <a:prstGeom prst="ellipse">
            <a:avLst/>
          </a:prstGeom>
          <a:solidFill>
            <a:srgbClr val="39E5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1848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target? Start at Step 01, even with leads already in hand — the Target Company tracker gives every later tool its context. Not sure yet? Start at Step 00 to find a direction first.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109728" cy="109728"/>
          </a:xfrm>
          <a:prstGeom prst="ellipse">
            <a:avLst/>
          </a:prstGeom>
          <a:solidFill>
            <a:srgbClr val="39E58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854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Claude's output as you go. The tools don't store history — copy results into your tracker or a doc.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898648"/>
            <a:ext cx="109728" cy="109728"/>
          </a:xfrm>
          <a:prstGeom prst="ellipse">
            <a:avLst/>
          </a:prstGeom>
          <a:solidFill>
            <a:srgbClr val="39E5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523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Safety Check before responding to any recruiter message or posting that feels off.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465576"/>
            <a:ext cx="109728" cy="109728"/>
          </a:xfrm>
          <a:prstGeom prst="ellipse">
            <a:avLst/>
          </a:prstGeom>
          <a:solidFill>
            <a:srgbClr val="39E58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92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Build Your Brand and Outreach regularly — a job search isn't linear, keep building visibility throughout.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8FA3B3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E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39E58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JOBRADAR  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tjackson8817.github.io/Job-Hunting-Tool-Suite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38360" y="45720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pic>
        <p:nvPicPr>
          <p:cNvPr id="18" name="Image 0" descr="/home/claude/jobradar_deck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4672584"/>
            <a:ext cx="1353312" cy="13533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38360" y="61447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· STEP 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Your Direction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skip this if you already know your target. This step is only for “I’m not sure what’s next.”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512820" y="214884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DF4F1"/>
          </a:solidFill>
          <a:ln/>
        </p:spPr>
      </p:sp>
      <p:sp>
        <p:nvSpPr>
          <p:cNvPr id="6" name="Shape 4"/>
          <p:cNvSpPr/>
          <p:nvPr/>
        </p:nvSpPr>
        <p:spPr>
          <a:xfrm>
            <a:off x="3878580" y="2514600"/>
            <a:ext cx="640080" cy="640080"/>
          </a:xfrm>
          <a:prstGeom prst="ellipse">
            <a:avLst/>
          </a:prstGeom>
          <a:solidFill>
            <a:srgbClr val="0FA968"/>
          </a:solidFill>
          <a:ln/>
        </p:spPr>
      </p:sp>
      <p:sp>
        <p:nvSpPr>
          <p:cNvPr id="7" name="Text 5"/>
          <p:cNvSpPr/>
          <p:nvPr/>
        </p:nvSpPr>
        <p:spPr>
          <a:xfrm>
            <a:off x="38785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4701540" y="24963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1540" y="277063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 Discovery Prompt Builder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87858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direction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78580" y="3977640"/>
            <a:ext cx="4434840" cy="0"/>
          </a:xfrm>
          <a:prstGeom prst="line">
            <a:avLst/>
          </a:prstGeom>
          <a:noFill/>
          <a:ln w="12700">
            <a:solidFill>
              <a:srgbClr val="E4E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8580" y="41605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your real career background like a strategist and executive recruiter would, and surfaces realistic alternative paths — ranked and evidence-based — pointing you to Step 01 once you’ve picked one.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2026-08-15T11:17:41Z</dcterms:created>
  <dcterms:modified xsi:type="dcterms:W3CDTF">2026-08-15T11:17:41Z</dcterms:modified>
</cp:coreProperties>
</file>